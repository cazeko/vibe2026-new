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[팀명] 입니다. 저희가 만든 Fitly 를 소개해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한국 초등교사 임용 1차는 연 4만 명이 응시하는 1년 1회 시험입니다. 기출은 24년치가 모두 공개돼 있고, 시중에는 박문각·해커스 같은 80~150만원짜리 패스 인강이 있습니다. 그런데 진짜 문제는, 24년치 데이터가 있어도 내 약점이 어디인지 알려주는 도구가 없다는 것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 김지민이라는 학생이 있다고 가정해 봅시다. 교대 4학년이고, 올해 11월에 임용 1차를 봅니다. 박문각 인강에 한 달 12만원, 종로학원 모의고사에 9만원을 씁니다. 그런데도 김지민은 세 가지 문제를 매일 겪습니다. 첫째, 인강을 매일 듣는데도 내가 뭘 모르는지 모릅니다. 둘째, 서술형 답안을 써도 채점 기준이 막연합니다. 셋째, 통학 1.5시간이 그냥 흘러갑니다. 이 세 가지가 Fitly 가 풀려는 문제입니다.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Fitly 의 핵심 가치는 단 한 줄입니다 — 내 시험일, 내 약점, 내 망각 곡선에 ‘맞게(Fit)’ 학습한다. 그리고 이 가치를 세 개의 마법 지점으로 풀어냅니다. 첫째, 24년치 기출 즉시 분석. 둘째, AI 모범답안 + 5탭 분석. 셋째, 자동 생성 팟캐스트.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가지 페인을 세 개의 기능에 1대 1로 매핑했습니다. 약점 진단 부재 → 기출분석 페이지에서 24년치 데이터로 영역별 약점 시각화. 자가 채점 모호 → 풀이 트랙 + 5탭 분석에서 AI 모범답안과 차이를 명확히. 이동 시간 비효율 → 자동 생성 팟캐스트로 통학 시간을 학습 시간으로. 보조 기능으로 3 트랙 SRS, 학습 워크스페이스 풀, AI 챗봇이 함께 들어갑니다. 이제 실제로 작동하는 모습을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데모 들어가기 전 1줄 — 24년치 PDF 71개를 unpdf 로 추출, 실패 시 Gemini Vision OCR 폴백, LLM 태깅으로 시드, Postgres 19 테이블에 적재. 학습 본업은 Gemini Flash 와 multi-speaker TTS 가 담당합니다. [데모 영상 3분 — 가입→시험일 입력→대시보드→기출분석→풀이 트랙→AI 5탭 분석→팟캐스트→워크스페이스 풀 기능]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디자인 한 줄 — 공책 가로 괘선, 세리프 헤드라인, 학습 진척도만 컬러로 빛난다. 반대로 인강이 쓰는 다색·과대·긴급성은 절대 안 씁니다. [데모 영상 2분 — 첫 진입 5초 가치 / SplitView / lightbox / 큐 점프 J-K / 진행률 / 다크모드 / 모바일 PWA]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박문각·해커스 패스는 시즌 80~150만원입니다. Fitly 는 49,000원 — 약 1/16에서 1/30 가격입니다. 가격만이 아니라 학습 모델 자체가 다릅니다. 인강은 단방향, Fitly 는 SRS 와 자가 채점을 결합한 양방향입니다. AI 활용도 다릅니다. 인강 회사들은 거의 안 쓰거나 챗봇 보조 정도. 우리는 Gemini Flash 로 분석·튜터·팟캐 모두 통합합니다. 그리고 결정적으로 — 카피가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우리는 합격 가능성을 추정하지 않습니다. 합격 컷도 추정하지 않습니다. 24년치 기출 분포 분석과 AI 모범답안 — 사실만 제공합니다. 시각도 정반대입니다. 인강이 다색·과대·긴급이라면, Fitly 는 공책·세리프·단색입니다. 정직한 플래너 — 마법 아님. 이게 우리의 차별입니다.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규모는 TAM 4만, SAM 디지털 결제 1.5만, 우리 SOM 첫 시즌 1500명 결제 가설입니다. 1년차 매출 추정 7,350만원 — 49,000원 × 1500명입니다. 보수적 가정이고, 시즌 2 이후는 누적 효과로 증가 모델입니다.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BM 은 단순합니다. 무료 진입 — 분석과 팟캐 시드를 풀어 마법 지점 체험. Pass 49,000원 — 시험일까지 fixed, 자동 갱신 없고 7일 무조건 환불. 학습 그라인드 전체와 AI 무제한이 Pass 에 들어갑니다. 박문각 패스 1/24 가격이 핵심 카피입니다.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은 두 축입니다. 단기 — 임용 유튜버 5~10명에게 무료 Pass 와 콘텐츠 합작. 그리고 교대생이 극도로 밀집한 에브리타임·초임공 커뮤니티에 시드 후기와 무료 체험을 풀어 타겟층 바이럴을 일으킵니다. 장기 — 24년치 데이터를 SEO 블로그로 풀어 검색 유입. 12개월 로드맵은 7월 베타, 9월 정식, 12월 시즌 1 종료, 2027년 3월 시즌 2 v2 출시. 첫 시즌 데이터로 PMF 검증 후 v2 로 본격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마지막으로, 14일 AI 협업 회고를 짧게. 225 commits, 56 PR — 프로젝트 원칙 문서까지 4 계층으로 진화시켰습니다. 회고는 두 축으로 묶었습니다. 첫째, 규율 — 처음에는 단일 CLAUDE.md 지침서로 AI 에게 명령했지만, AI 가 자주 말을 안 들었고 스코프가 폭주했습니다. 그래서 한국 법체계처럼 4 계층 위계 — 헌법, 법률, 시행령, 시행규칙 — 으로 분리하고, 모든 결정에 헌법 조항 근거를 명시하도록 의무화했습니다. 이후 AI 가 임의로 신규 기능을 추가하는 일이 사라졌습니다. 둘째, 정직 — AI 분석 결과가 빈 화면으로 표시되는 회귀였습니다. LLM JSON 파싱 실패 시 코드가 조용히 빈 배열로 fallback 하고 있었습니다. 여기서 배운 원칙은, fallback 은 명시 에러로 surface 해야 한다, silent 는 사용자에게 정직하지 않다.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종료. 베타 모집 + 팀 연락처 노출.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TLY_PAPER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58568" y="1855318"/>
            <a:ext cx="19202" cy="192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032297" y="3097987"/>
            <a:ext cx="10973" cy="10973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529377" y="3591763"/>
            <a:ext cx="17374" cy="17374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199486" y="294437"/>
            <a:ext cx="14630" cy="14630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93115" y="2381098"/>
            <a:ext cx="17374" cy="17374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922776" y="1035101"/>
            <a:ext cx="17374" cy="17374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824021" y="4380890"/>
            <a:ext cx="12802" cy="12802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79031" y="4144975"/>
            <a:ext cx="20117" cy="2011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84886" y="1873606"/>
            <a:ext cx="20117" cy="20117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5958230" y="4636922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739335" y="3344875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8271" y="4189781"/>
            <a:ext cx="19202" cy="192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567221" y="1433779"/>
            <a:ext cx="17374" cy="17374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893101" y="294437"/>
            <a:ext cx="16459" cy="16459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719572" y="1099109"/>
            <a:ext cx="18288" cy="18288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77986" y="5012741"/>
            <a:ext cx="18288" cy="18288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761074" y="950976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768389" y="1624889"/>
            <a:ext cx="19202" cy="192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774790" y="4215384"/>
            <a:ext cx="17374" cy="17374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372100" y="2261311"/>
            <a:ext cx="11887" cy="1188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37690" y="3248863"/>
            <a:ext cx="17374" cy="17374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81328" y="2634386"/>
            <a:ext cx="13716" cy="13716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955902" y="3881628"/>
            <a:ext cx="16459" cy="16459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17297" y="2081174"/>
            <a:ext cx="15545" cy="15545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7368" y="2928823"/>
            <a:ext cx="15545" cy="15545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55164" y="2254910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212787" y="426110"/>
            <a:ext cx="21946" cy="21946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4146" y="4869180"/>
            <a:ext cx="13716" cy="13716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94176" y="714146"/>
            <a:ext cx="21031" cy="21031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910328" y="3383280"/>
            <a:ext cx="14630" cy="14630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377940" y="2371039"/>
            <a:ext cx="18288" cy="18288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93008" y="4317797"/>
            <a:ext cx="15545" cy="15545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98748" y="2488082"/>
            <a:ext cx="21031" cy="21031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629754" y="1736446"/>
            <a:ext cx="13716" cy="1371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321247" y="5077663"/>
            <a:ext cx="15545" cy="15545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81982" y="1749247"/>
            <a:ext cx="17374" cy="17374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372307" y="3047695"/>
            <a:ext cx="15545" cy="15545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428439" y="180137"/>
            <a:ext cx="12802" cy="128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27455" y="5089550"/>
            <a:ext cx="14630" cy="14630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5665" y="63094"/>
            <a:ext cx="13716" cy="1371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677302" y="442570"/>
            <a:ext cx="14630" cy="14630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921508" y="2685593"/>
            <a:ext cx="20117" cy="2011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058046" y="4269334"/>
            <a:ext cx="19202" cy="19202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501384" y="2784348"/>
            <a:ext cx="18288" cy="18288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112471"/>
            <a:ext cx="20117" cy="20117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94576" y="3168396"/>
            <a:ext cx="11887" cy="11887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32842" y="3749954"/>
            <a:ext cx="19202" cy="192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98271" y="2905049"/>
            <a:ext cx="10973" cy="10973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7549" y="3740810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773314" y="4931359"/>
            <a:ext cx="19202" cy="192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878117" y="2977286"/>
            <a:ext cx="14630" cy="14630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168603" y="2328062"/>
            <a:ext cx="17374" cy="17374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4341571" y="3197657"/>
            <a:ext cx="14630" cy="14630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3389681" y="4411066"/>
            <a:ext cx="12802" cy="128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4617720" y="3847795"/>
            <a:ext cx="15545" cy="15545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861450" y="705917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370686" y="5073091"/>
            <a:ext cx="16459" cy="16459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49870" y="417881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5023714" y="4663440"/>
            <a:ext cx="12802" cy="128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541325" y="4689043"/>
            <a:ext cx="18288" cy="18288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5811926" y="4235501"/>
            <a:ext cx="18288" cy="18288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5608015" y="3377794"/>
            <a:ext cx="18288" cy="18288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98194" y="4265676"/>
            <a:ext cx="20117" cy="20117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640434" y="1477670"/>
            <a:ext cx="21031" cy="21031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5055718" y="3262579"/>
            <a:ext cx="14630" cy="14630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629193" y="3788359"/>
            <a:ext cx="21946" cy="2194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331513" y="1083564"/>
            <a:ext cx="21031" cy="21031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5046574" y="3743554"/>
            <a:ext cx="19202" cy="19202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265115" y="1293876"/>
            <a:ext cx="16459" cy="16459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364846" y="1849831"/>
            <a:ext cx="16459" cy="16459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879738" y="2372868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064094" y="2798978"/>
            <a:ext cx="11887" cy="1188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652467" y="3266237"/>
            <a:ext cx="18288" cy="18288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1010412" y="1411834"/>
            <a:ext cx="18288" cy="18288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1231697" y="2869387"/>
            <a:ext cx="21946" cy="21946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3881628" y="3322015"/>
            <a:ext cx="12802" cy="12802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3144622" y="3668573"/>
            <a:ext cx="21031" cy="21031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4187952" y="3917290"/>
            <a:ext cx="16459" cy="16459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6266383" y="4221785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341071" y="2009851"/>
            <a:ext cx="16459" cy="16459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2952598" y="878738"/>
            <a:ext cx="11887" cy="11887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4804258" y="2354580"/>
            <a:ext cx="17374" cy="17374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5941771" y="3845052"/>
            <a:ext cx="11887" cy="1188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2307946" y="1918411"/>
            <a:ext cx="15545" cy="15545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39319" y="1303020"/>
            <a:ext cx="19202" cy="192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8725205" y="686714"/>
            <a:ext cx="15545" cy="15545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3546958" y="4155034"/>
            <a:ext cx="13716" cy="13716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3139135" y="1309421"/>
            <a:ext cx="13716" cy="13716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2888590" y="3129991"/>
            <a:ext cx="11887" cy="11887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6044184" y="2702966"/>
            <a:ext cx="12802" cy="128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6078017" y="1420063"/>
            <a:ext cx="10973" cy="10973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3453689" y="2888590"/>
            <a:ext cx="15545" cy="15545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5776265" y="468173"/>
            <a:ext cx="14630" cy="14630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8044891" y="868680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6605626" y="98755"/>
            <a:ext cx="19202" cy="192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2597810" y="2656332"/>
            <a:ext cx="18288" cy="18288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7536485" y="2787091"/>
            <a:ext cx="16459" cy="16459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2278685" y="853135"/>
            <a:ext cx="19202" cy="19202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3044038" y="1686154"/>
            <a:ext cx="20117" cy="2011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8314639" y="4246474"/>
            <a:ext cx="18288" cy="18288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3031236" y="3371393"/>
            <a:ext cx="20117" cy="20117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7725766" y="189281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7819034" y="3760927"/>
            <a:ext cx="12802" cy="128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920801" y="2674620"/>
            <a:ext cx="18288" cy="18288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1916582" y="3853282"/>
            <a:ext cx="12802" cy="128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2572207" y="2606040"/>
            <a:ext cx="17374" cy="17374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2937967" y="4123944"/>
            <a:ext cx="17374" cy="17374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6657746" y="3771900"/>
            <a:ext cx="21946" cy="21946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1915668" y="3061411"/>
            <a:ext cx="20117" cy="2011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6667805" y="1783080"/>
            <a:ext cx="20117" cy="2011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4256532" y="4943246"/>
            <a:ext cx="20117" cy="2011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7279538" y="2844698"/>
            <a:ext cx="16459" cy="16459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7584948" y="1166774"/>
            <a:ext cx="12802" cy="128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207569" y="782726"/>
            <a:ext cx="19202" cy="19202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7448702" y="1602029"/>
            <a:ext cx="17374" cy="17374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4311396" y="4101084"/>
            <a:ext cx="14630" cy="14630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3587191" y="3818534"/>
            <a:ext cx="20117" cy="2011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6186830" y="899770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6777533" y="2132381"/>
            <a:ext cx="15545" cy="15545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1417320" y="4409237"/>
            <a:ext cx="17374" cy="17374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749808" y="801014"/>
            <a:ext cx="17374" cy="17374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9083650" y="706831"/>
            <a:ext cx="14630" cy="14630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4759452" y="770839"/>
            <a:ext cx="12802" cy="128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4973422" y="2532888"/>
            <a:ext cx="16459" cy="16459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245059" y="761695"/>
            <a:ext cx="19202" cy="192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918972" y="195682"/>
            <a:ext cx="12802" cy="128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5654" y="2493569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6435547" y="3275381"/>
            <a:ext cx="11887" cy="11887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3250692" y="4764938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21946" y="4916729"/>
            <a:ext cx="13716" cy="13716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5941771" y="1666951"/>
            <a:ext cx="20117" cy="20117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110082" y="1228039"/>
            <a:ext cx="13716" cy="13716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2427732" y="240487"/>
            <a:ext cx="13716" cy="1371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6110021" y="4636008"/>
            <a:ext cx="17374" cy="17374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5975604" y="1484986"/>
            <a:ext cx="13716" cy="13716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6911950" y="206654"/>
            <a:ext cx="15545" cy="15545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677570" y="809244"/>
            <a:ext cx="14630" cy="14630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852221" y="2964485"/>
            <a:ext cx="12802" cy="128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8563356" y="2815438"/>
            <a:ext cx="15545" cy="15545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1251814" y="2104034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2619756" y="4543654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3032150" y="1107338"/>
            <a:ext cx="13716" cy="13716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2335378" y="3247034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3486607" y="828446"/>
            <a:ext cx="12802" cy="128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6056986" y="3210458"/>
            <a:ext cx="19202" cy="19202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5426964" y="2008022"/>
            <a:ext cx="21031" cy="21031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1228039"/>
            <a:ext cx="16459" cy="16459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2700223" y="1745590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2545690" y="1702613"/>
            <a:ext cx="17374" cy="17374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2669134" y="4294022"/>
            <a:ext cx="21031" cy="21031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4143146" y="210312"/>
            <a:ext cx="21946" cy="2194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3766414" y="328270"/>
            <a:ext cx="19202" cy="192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5262372" y="1791310"/>
            <a:ext cx="16459" cy="16459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917143" y="1319479"/>
            <a:ext cx="21946" cy="21946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4551883" y="2596896"/>
            <a:ext cx="13716" cy="1371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621792" y="1592885"/>
            <a:ext cx="17374" cy="17374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4073652" y="1172261"/>
            <a:ext cx="21031" cy="21031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223114" y="602590"/>
            <a:ext cx="16459" cy="16459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222199" y="3684118"/>
            <a:ext cx="16459" cy="16459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4127602" y="3851453"/>
            <a:ext cx="16459" cy="16459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2506370" y="2702966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4205326" y="2478024"/>
            <a:ext cx="21031" cy="21031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7409383" y="907085"/>
            <a:ext cx="18288" cy="18288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6249010" y="2850185"/>
            <a:ext cx="11887" cy="11887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113386" y="3250692"/>
            <a:ext cx="19202" cy="192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2413102" y="4239158"/>
            <a:ext cx="17374" cy="17374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2285086" y="3073298"/>
            <a:ext cx="14630" cy="14630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7912303" y="1013155"/>
            <a:ext cx="16459" cy="16459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2144268" y="2936138"/>
            <a:ext cx="18288" cy="18288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7295998" y="4278478"/>
            <a:ext cx="10973" cy="10973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3394253" y="3922776"/>
            <a:ext cx="10973" cy="10973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1385316" y="1383487"/>
            <a:ext cx="20117" cy="20117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1915668" y="4172407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177394" y="1133856"/>
            <a:ext cx="19202" cy="19202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8535924" y="1560881"/>
            <a:ext cx="21946" cy="21946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7231075" y="1577340"/>
            <a:ext cx="11887" cy="11887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8673084" y="518465"/>
            <a:ext cx="11887" cy="1188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4611319" y="2725826"/>
            <a:ext cx="17374" cy="17374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4430268" y="2601468"/>
            <a:ext cx="18288" cy="18288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2095805" y="3015691"/>
            <a:ext cx="11887" cy="11887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2673706" y="1207922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5066690" y="5014570"/>
            <a:ext cx="15545" cy="15545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3677717" y="818388"/>
            <a:ext cx="12802" cy="128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1161288" y="4876495"/>
            <a:ext cx="21031" cy="21031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8535010" y="4706417"/>
            <a:ext cx="14630" cy="14630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2086661" y="1233526"/>
            <a:ext cx="18288" cy="18288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8937346" y="1680667"/>
            <a:ext cx="11887" cy="11887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4118458" y="3134563"/>
            <a:ext cx="16459" cy="16459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90" name="Shape 188"/>
          <p:cNvSpPr/>
          <p:nvPr/>
        </p:nvSpPr>
        <p:spPr>
          <a:xfrm>
            <a:off x="4824374" y="2856586"/>
            <a:ext cx="19202" cy="19202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91" name="Shape 189"/>
          <p:cNvSpPr/>
          <p:nvPr/>
        </p:nvSpPr>
        <p:spPr>
          <a:xfrm>
            <a:off x="3755441" y="1332281"/>
            <a:ext cx="21031" cy="21031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192" name="Shape 190"/>
          <p:cNvSpPr/>
          <p:nvPr/>
        </p:nvSpPr>
        <p:spPr>
          <a:xfrm>
            <a:off x="4397350" y="1003097"/>
            <a:ext cx="19202" cy="19202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4843577" y="4903013"/>
            <a:ext cx="12802" cy="12802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6511442" y="306324"/>
            <a:ext cx="10973" cy="10973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95" name="Shape 193"/>
          <p:cNvSpPr/>
          <p:nvPr/>
        </p:nvSpPr>
        <p:spPr>
          <a:xfrm>
            <a:off x="8075066" y="427939"/>
            <a:ext cx="15545" cy="15545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196" name="Shape 194"/>
          <p:cNvSpPr/>
          <p:nvPr/>
        </p:nvSpPr>
        <p:spPr>
          <a:xfrm>
            <a:off x="1830629" y="4384548"/>
            <a:ext cx="21946" cy="2194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97" name="Shape 195"/>
          <p:cNvSpPr/>
          <p:nvPr/>
        </p:nvSpPr>
        <p:spPr>
          <a:xfrm>
            <a:off x="1056132" y="1986991"/>
            <a:ext cx="13716" cy="1371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1847088" y="3363163"/>
            <a:ext cx="14630" cy="14630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199" name="Shape 197"/>
          <p:cNvSpPr/>
          <p:nvPr/>
        </p:nvSpPr>
        <p:spPr>
          <a:xfrm>
            <a:off x="3530498" y="3338474"/>
            <a:ext cx="16459" cy="16459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200" name="Shape 198"/>
          <p:cNvSpPr/>
          <p:nvPr/>
        </p:nvSpPr>
        <p:spPr>
          <a:xfrm>
            <a:off x="4777740" y="759866"/>
            <a:ext cx="18288" cy="18288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1" name="Shape 199"/>
          <p:cNvSpPr/>
          <p:nvPr/>
        </p:nvSpPr>
        <p:spPr>
          <a:xfrm>
            <a:off x="3992270" y="512064"/>
            <a:ext cx="14630" cy="14630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202" name="Shape 200"/>
          <p:cNvSpPr/>
          <p:nvPr/>
        </p:nvSpPr>
        <p:spPr>
          <a:xfrm>
            <a:off x="7525512" y="3742639"/>
            <a:ext cx="16459" cy="16459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03" name="Shape 201"/>
          <p:cNvSpPr/>
          <p:nvPr/>
        </p:nvSpPr>
        <p:spPr>
          <a:xfrm>
            <a:off x="6052414" y="3242462"/>
            <a:ext cx="18288" cy="18288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204" name="Shape 202"/>
          <p:cNvSpPr/>
          <p:nvPr/>
        </p:nvSpPr>
        <p:spPr>
          <a:xfrm>
            <a:off x="10058" y="2228393"/>
            <a:ext cx="12802" cy="12802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5" name="Shape 203"/>
          <p:cNvSpPr/>
          <p:nvPr/>
        </p:nvSpPr>
        <p:spPr>
          <a:xfrm>
            <a:off x="2576779" y="4678985"/>
            <a:ext cx="17374" cy="17374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06" name="Shape 204"/>
          <p:cNvSpPr/>
          <p:nvPr/>
        </p:nvSpPr>
        <p:spPr>
          <a:xfrm>
            <a:off x="5560466" y="3103474"/>
            <a:ext cx="21946" cy="21946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207" name="Shape 205"/>
          <p:cNvSpPr/>
          <p:nvPr/>
        </p:nvSpPr>
        <p:spPr>
          <a:xfrm>
            <a:off x="4996282" y="1104595"/>
            <a:ext cx="14630" cy="14630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8" name="Shape 206"/>
          <p:cNvSpPr/>
          <p:nvPr/>
        </p:nvSpPr>
        <p:spPr>
          <a:xfrm>
            <a:off x="3594506" y="2315261"/>
            <a:ext cx="11887" cy="11887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09" name="Shape 207"/>
          <p:cNvSpPr/>
          <p:nvPr/>
        </p:nvSpPr>
        <p:spPr>
          <a:xfrm>
            <a:off x="386791" y="512064"/>
            <a:ext cx="14630" cy="14630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210" name="Shape 208"/>
          <p:cNvSpPr/>
          <p:nvPr/>
        </p:nvSpPr>
        <p:spPr>
          <a:xfrm>
            <a:off x="7544714" y="1891894"/>
            <a:ext cx="19202" cy="19202"/>
          </a:xfrm>
          <a:prstGeom prst="rect">
            <a:avLst/>
          </a:prstGeom>
          <a:solidFill>
            <a:srgbClr val="1A2027">
              <a:alpha val="7000"/>
            </a:srgbClr>
          </a:solidFill>
          <a:ln/>
        </p:spPr>
      </p:sp>
      <p:sp>
        <p:nvSpPr>
          <p:cNvPr id="211" name="Shape 209"/>
          <p:cNvSpPr/>
          <p:nvPr/>
        </p:nvSpPr>
        <p:spPr>
          <a:xfrm>
            <a:off x="106070" y="4727448"/>
            <a:ext cx="13716" cy="13716"/>
          </a:xfrm>
          <a:prstGeom prst="rect">
            <a:avLst/>
          </a:prstGeom>
          <a:solidFill>
            <a:srgbClr val="1A2027">
              <a:alpha val="12000"/>
            </a:srgbClr>
          </a:solidFill>
          <a:ln/>
        </p:spPr>
      </p:sp>
      <p:sp>
        <p:nvSpPr>
          <p:cNvPr id="212" name="Shape 210"/>
          <p:cNvSpPr/>
          <p:nvPr/>
        </p:nvSpPr>
        <p:spPr>
          <a:xfrm>
            <a:off x="6870802" y="506578"/>
            <a:ext cx="17374" cy="17374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13" name="Shape 211"/>
          <p:cNvSpPr/>
          <p:nvPr/>
        </p:nvSpPr>
        <p:spPr>
          <a:xfrm>
            <a:off x="7118604" y="783641"/>
            <a:ext cx="16459" cy="16459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14" name="Shape 212"/>
          <p:cNvSpPr/>
          <p:nvPr/>
        </p:nvSpPr>
        <p:spPr>
          <a:xfrm>
            <a:off x="629107" y="3489350"/>
            <a:ext cx="19202" cy="19202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15" name="Shape 213"/>
          <p:cNvSpPr/>
          <p:nvPr/>
        </p:nvSpPr>
        <p:spPr>
          <a:xfrm>
            <a:off x="2077517" y="2304288"/>
            <a:ext cx="15545" cy="15545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16" name="Shape 214"/>
          <p:cNvSpPr/>
          <p:nvPr/>
        </p:nvSpPr>
        <p:spPr>
          <a:xfrm>
            <a:off x="4314139" y="1288390"/>
            <a:ext cx="12802" cy="12802"/>
          </a:xfrm>
          <a:prstGeom prst="rect">
            <a:avLst/>
          </a:prstGeom>
          <a:solidFill>
            <a:srgbClr val="1A2027">
              <a:alpha val="10000"/>
            </a:srgbClr>
          </a:solidFill>
          <a:ln/>
        </p:spPr>
      </p:sp>
      <p:sp>
        <p:nvSpPr>
          <p:cNvPr id="217" name="Shape 215"/>
          <p:cNvSpPr/>
          <p:nvPr/>
        </p:nvSpPr>
        <p:spPr>
          <a:xfrm>
            <a:off x="2768803" y="3278124"/>
            <a:ext cx="15545" cy="15545"/>
          </a:xfrm>
          <a:prstGeom prst="rect">
            <a:avLst/>
          </a:prstGeom>
          <a:solidFill>
            <a:srgbClr val="1A2027">
              <a:alpha val="8000"/>
            </a:srgbClr>
          </a:solidFill>
          <a:ln/>
        </p:spPr>
      </p:sp>
      <p:sp>
        <p:nvSpPr>
          <p:cNvPr id="218" name="Shape 216"/>
          <p:cNvSpPr/>
          <p:nvPr/>
        </p:nvSpPr>
        <p:spPr>
          <a:xfrm>
            <a:off x="2678278" y="3055925"/>
            <a:ext cx="14630" cy="14630"/>
          </a:xfrm>
          <a:prstGeom prst="rect">
            <a:avLst/>
          </a:prstGeom>
          <a:solidFill>
            <a:srgbClr val="1A2027">
              <a:alpha val="11000"/>
            </a:srgbClr>
          </a:solidFill>
          <a:ln/>
        </p:spPr>
      </p:sp>
      <p:sp>
        <p:nvSpPr>
          <p:cNvPr id="219" name="Shape 217"/>
          <p:cNvSpPr/>
          <p:nvPr/>
        </p:nvSpPr>
        <p:spPr>
          <a:xfrm>
            <a:off x="5839358" y="2243938"/>
            <a:ext cx="21031" cy="21031"/>
          </a:xfrm>
          <a:prstGeom prst="rect">
            <a:avLst/>
          </a:prstGeom>
          <a:solidFill>
            <a:srgbClr val="1A2027">
              <a:alpha val="9000"/>
            </a:srgbClr>
          </a:solidFill>
          <a:ln/>
        </p:spPr>
      </p:sp>
      <p:sp>
        <p:nvSpPr>
          <p:cNvPr id="220" name="Shape 218"/>
          <p:cNvSpPr/>
          <p:nvPr/>
        </p:nvSpPr>
        <p:spPr>
          <a:xfrm>
            <a:off x="3204058" y="3001061"/>
            <a:ext cx="13716" cy="13716"/>
          </a:xfrm>
          <a:prstGeom prst="rect">
            <a:avLst/>
          </a:prstGeom>
          <a:solidFill>
            <a:srgbClr val="1A2027">
              <a:alpha val="5000"/>
            </a:srgbClr>
          </a:solidFill>
          <a:ln/>
        </p:spPr>
      </p:sp>
      <p:sp>
        <p:nvSpPr>
          <p:cNvPr id="221" name="Shape 219"/>
          <p:cNvSpPr/>
          <p:nvPr/>
        </p:nvSpPr>
        <p:spPr>
          <a:xfrm>
            <a:off x="1887322" y="28346"/>
            <a:ext cx="13716" cy="13716"/>
          </a:xfrm>
          <a:prstGeom prst="rect">
            <a:avLst/>
          </a:prstGeom>
          <a:solidFill>
            <a:srgbClr val="1A2027">
              <a:alpha val="6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PRESENTATION · 2026.05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합격은 시간이 아니라 적합도다.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 초등교사 임용 1차 학습 플래너 PWA</a:t>
            </a:r>
            <a:endParaRPr lang="en-US" sz="14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팀명: [팀명]   ·   2026.05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· 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한국 초등교사 임용 1차 시험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560320" cy="118872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연 4만+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371600"/>
            <a:ext cx="2560320" cy="118872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1년 1회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91840" y="2148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횟수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560320" cy="118872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24년치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126480" y="2148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기출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시장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박문각·해커스 인강 패스 —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80~150만원/시즌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종로학원 모의고사 —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90,000원/3회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데이터는 공개되어 있는데, </a:t>
            </a:r>
            <a:pPr indent="0" marL="0">
              <a:spcAft>
                <a:spcPts val="400"/>
              </a:spcAft>
              <a:buNone/>
            </a:pPr>
            <a:r>
              <a:rPr lang="en-US" sz="1600" b="1" i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약점이 어디인지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알려주는 도구가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· 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페르소나 — 김지민 (가명, 교대 4학년)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840480" cy="146304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173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2026년 11월 임용 1차 응시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지출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박문각 인강 12만/월 + 종로 모의 9만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일과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학교 → 학원 → 자취방 (왕복 1.5시간)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6344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0" y="12344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약점 진단 부재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434B55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“인강을 매일 듣는데, 내가 뭘 모르는지 모릅니다.”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120640" y="21031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자가 채점 모호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434B55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“서술형 답안을 써도, 채점 기준이 막연합니다.”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③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120640" y="29718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시간 비효율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434B55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“통학 1.5시간이 그냥 흘러갑니다.”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세 가지가 Fitly 가 풀려는 문제입니다.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· 솔루션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 = “Fit (맞게) 학습”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371600"/>
            <a:ext cx="7315200" cy="1280160"/>
          </a:xfrm>
          <a:prstGeom prst="rect">
            <a:avLst/>
          </a:prstGeom>
          <a:solidFill>
            <a:srgbClr val="FAF6EE"/>
          </a:solidFill>
          <a:ln w="19050">
            <a:solidFill>
              <a:srgbClr val="1F5C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내 시험일·내 약점·내 망각 곡선에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“맞게(Fit)” 학습합니다.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개의 마법 지점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2560320" cy="128016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기출 즉시 분석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C80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약점 시각화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3337560"/>
            <a:ext cx="2560320" cy="128016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8328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모범답안 + 5탭 분석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C80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자가 채점 명확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3337560"/>
            <a:ext cx="2560320" cy="128016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③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179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NotebookLM 스타일 팟캐스트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C80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 시간 학습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· 솔루션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페인 → 가치 → 기능 매핑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페인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1325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Fitly 기능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약점 진단 부재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1783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기출 즉시 분석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7784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기출분석 페이지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(히트맵·토픽맵·로드맵)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331720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1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377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자가 채점 모호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채점 + 분석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77840" y="2377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풀이 트랙 + 5탭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(총평·키워드·diff·모범답안·이력)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1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이동 시간 비효율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2971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팟캐스트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77840" y="2971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팟캐스트 페이지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(Gemini multi-speaker TTS)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 기능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트랙 SRS (풀이/키워드/오답) · 학습 워크스페이스 (마크/필터/타이머/소문항) · AI 학습 도우미 챗봇 · 학습 계획 + 학습 분석 + 마이 페이지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3 · 데모 ① 작동성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플랫폼 · 데이터 · AI 흐름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5603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7452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15 (PWA)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 Auth + Storage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Drizzle ORM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Postgres — 19 테이블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737360"/>
            <a:ext cx="25603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87452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71 PDF (24년치)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↓ unpdf 텍스트 추출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↓ Gemini Vision OCR 폴백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↓ LLM 태깅 (≤ 5)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cards 시드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737360"/>
            <a:ext cx="25603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87452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Flash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분석 (5탭)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튜터 챗봇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multi-speaker TTS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자동 팟캐스트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1F5C4A">
              <a:alpha val="8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233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 </a:t>
            </a:r>
            <a:pPr indent="0" marL="0"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 영상 — 가입 / 대시보드 / 기출분석 / 풀이 5탭 / 팟캐스트 / 워크스페이스 (3분)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4 · 데모 ② 사용성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디자인 시스템 — 메모러블 앵커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solidFill>
            <a:srgbClr val="FAF6EE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</a:t>
            </a:r>
            <a:pPr algn="ctr" indent="0" marL="0">
              <a:buNone/>
            </a:pPr>
            <a:r>
              <a:rPr lang="en-US" sz="1800" i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공책 가로 괘선 + 세리프 헤드라인 + 학습 진척도만 컬러로 빛난다.</a:t>
            </a:r>
            <a:pPr algn="ctr" indent="0" marL="0">
              <a:buNone/>
            </a:pPr>
            <a:r>
              <a:rPr lang="en-US" sz="2800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”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토큰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액센트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evergreen (단 1색)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노토 명조 + 노토 산스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그리드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8pt 정합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反인강미학 — 의도된 정반대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74320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다색 배지 · 과대 카피 · 빨간 긴급 표시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“D-day 임박!” “마지막 N일 N% 할인”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공책 정합 · 세리프 헤드라인 · 단색 액센트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여백 충분 · 정직 카피 · 추정 0건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solidFill>
            <a:srgbClr val="1F5C4A">
              <a:alpha val="8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1148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 </a:t>
            </a:r>
            <a:pPr indent="0" marL="0"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 영상 — 첫 5초 가치 / SplitView / 모달 / 큐 점프 J-K / 다크 모드 / 모바일 (2분)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5 · 차별성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기존 인강 vs Fitly — 정량 비교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325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박문각 / 해커스 패스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Fitly Pass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(시즌)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18288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800,000 ~ 1,500,000원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1828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49,000원  (1/16~1/30)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3957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모델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3957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단방향 인강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3957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SRS + 자가 채점 + AI 모범답안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944368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9626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29626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 (또는 챗봇 보조)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626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Flash (분석·튜터·팟캐)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511296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8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529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카피 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352958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“합격률 N% 보장”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“마지막 D-30 패키지”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352958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“합격은 적합도다”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(추정 카피 X)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078224"/>
            <a:ext cx="8229600" cy="0"/>
          </a:xfrm>
          <a:prstGeom prst="line">
            <a:avLst/>
          </a:prstGeom>
          <a:noFill/>
          <a:ln w="3175">
            <a:solidFill>
              <a:srgbClr val="1A2027">
                <a:alpha val="8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96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43200" y="40965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 자체 정리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40965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공개 기출 (2002~2026)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5 · 차별성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정직성 + 反인강미학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정직성 원칙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합격 가능성 추정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합격 컷 추정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 보장 카피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“마지막 D-N 한정 N% 할인”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기출 분포 (사실)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모범답안과 차이 (사실)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가격 (긴급도 차등 X)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325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反인강미학 — 시각적 정반대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691640"/>
            <a:ext cx="3931920" cy="0"/>
          </a:xfrm>
          <a:prstGeom prst="line">
            <a:avLst/>
          </a:prstGeom>
          <a:noFill/>
          <a:ln w="12700">
            <a:solidFill>
              <a:srgbClr val="1F5C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인강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다색 배지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과대 카피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빨간 긴급 표시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Fitly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공책 정합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세리프 헤드라인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단색 액센트 (1색)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정직한 플래너 — 마법 아님.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6 · 기대효과·향후계획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시장 규모 — TAM / SAM / SOM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560320" cy="2011680"/>
          </a:xfrm>
          <a:prstGeom prst="rect">
            <a:avLst/>
          </a:prstGeom>
          <a:solidFill>
            <a:srgbClr val="1F5C4A">
              <a:alpha val="12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00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40,000명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응시자 (연)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KCEA 공시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417320"/>
            <a:ext cx="2560320" cy="2011680"/>
          </a:xfrm>
          <a:prstGeom prst="rect">
            <a:avLst/>
          </a:prstGeom>
          <a:solidFill>
            <a:srgbClr val="1F5C4A">
              <a:alpha val="20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600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011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15,000명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29184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결제 (38%)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3017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시장조사 추정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417320"/>
            <a:ext cx="2560320" cy="2011680"/>
          </a:xfrm>
          <a:prstGeom prst="rect">
            <a:avLst/>
          </a:prstGeom>
          <a:solidFill>
            <a:srgbClr val="1F5C4A">
              <a:alpha val="30000"/>
            </a:srgbClr>
          </a:solidFill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00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2011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1,500명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12648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Pass 결제 (시즌 1)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26480" y="3017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 + 유튜버 합작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ect">
            <a:avLst/>
          </a:prstGeom>
          <a:solidFill>
            <a:srgbClr val="FAF6EE"/>
          </a:solidFill>
          <a:ln w="19050">
            <a:solidFill>
              <a:srgbClr val="1F5C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749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매출 추정 </a:t>
            </a:r>
            <a:pPr algn="ctr" indent="0" marL="0"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73,500,000원</a:t>
            </a:r>
            <a:endParaRPr lang="en-US" sz="13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 1,500명 × 49,000원   (보수적 가설치)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6 · 기대효과·향후계획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비즈니스 모델 — Free + Pass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931920" cy="2926080"/>
          </a:xfrm>
          <a:prstGeom prst="rect">
            <a:avLst/>
          </a:prstGeom>
          <a:solidFill>
            <a:srgbClr val="FAF6EE"/>
          </a:solidFill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0원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914400" y="2560320"/>
            <a:ext cx="3017520" cy="0"/>
          </a:xfrm>
          <a:prstGeom prst="line">
            <a:avLst/>
          </a:prstGeom>
          <a:noFill/>
          <a:ln w="6350">
            <a:solidFill>
              <a:srgbClr val="1A2027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7432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가입 + 시험일 입력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마이 페이지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기출분석 풀 (히트맵·토픽맵)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팟캐 시드 라이브러리 N편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풀이 트랙 5장/일 (체험)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3931920" cy="2926080"/>
          </a:xfrm>
          <a:prstGeom prst="rect">
            <a:avLst/>
          </a:prstGeom>
          <a:solidFill>
            <a:srgbClr val="1F5C4A">
              <a:alpha val="8000"/>
            </a:srgbClr>
          </a:solidFill>
          <a:ln w="19050">
            <a:solidFill>
              <a:srgbClr val="1F5C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9202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49,000원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754880" y="24231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시험일까지 fixed · 7일 무조건 환불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12080" y="2697480"/>
            <a:ext cx="3017520" cy="0"/>
          </a:xfrm>
          <a:prstGeom prst="line">
            <a:avLst/>
          </a:prstGeom>
          <a:noFill/>
          <a:ln w="6350">
            <a:solidFill>
              <a:srgbClr val="1F5C4A">
                <a:alpha val="4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288036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무제한 SRS (3 트랙)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AI 모범답안 + 5탭 분석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AI 학습 도우미 (튜터 챗봇)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팟캐스트 자동 생성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  워크스페이스 풀 (마크/필터/이력)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박문각 패스 1/24 가격, 인강이 못 하는 분석·자가 채점·자동 팟캐스트.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6 · 기대효과·향후계획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GTM 2 트랙 + 12개월 로드맵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GTM 2 트랙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1417320"/>
          </a:xfrm>
          <a:prstGeom prst="rect">
            <a:avLst/>
          </a:prstGeom>
          <a:solidFill>
            <a:srgbClr val="FFFAF1"/>
          </a:solidFill>
          <a:ln w="6350">
            <a:solidFill>
              <a:srgbClr val="C8BF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단기 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유튜버 합작 + 교대 커뮤니티 바이럴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임용 유튜버 5~10명 무료 Pass +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합작 1편씩 발행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교대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에브리타임·초임공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시드 후기 + 무료 체험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3931920" cy="1097280"/>
          </a:xfrm>
          <a:prstGeom prst="rect">
            <a:avLst/>
          </a:prstGeom>
          <a:solidFill>
            <a:srgbClr val="FFFAF1"/>
          </a:solidFill>
          <a:ln w="6350">
            <a:solidFill>
              <a:srgbClr val="C8BF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291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장기 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SEO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24년치 데이터 자산 → 블로그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 2편, 50편 발행 시 long-tail 안정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12개월 로드맵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92040" y="1783080"/>
            <a:ext cx="0" cy="2468880"/>
          </a:xfrm>
          <a:prstGeom prst="line">
            <a:avLst/>
          </a:prstGeom>
          <a:noFill/>
          <a:ln w="19050">
            <a:solidFill>
              <a:srgbClr val="1F5C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8888" y="1709928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16642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시드 적재 + 유튜버 컨택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18888" y="2185416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4920" y="213969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2026-07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213969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클로즈드 베타 (50~100명)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18888" y="2660904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261518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0" y="26151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오픈 베타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18888" y="3136392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30906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2026-09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3090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정식 출시 (Pass 활성)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18888" y="3611880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4920" y="35661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2026-12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36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시즌 1 종료 + 후기 수집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18888" y="4087368"/>
            <a:ext cx="146304" cy="146304"/>
          </a:xfrm>
          <a:prstGeom prst="oval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40416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2027-03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43600" y="4041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시즌 2 v2 정식 출시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이번 시즌 베타 검증 → 시즌 2 본 운영.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7 · 회고·소회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AI 협업 회고 — 14일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7777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225 </a:t>
            </a:r>
            <a:pPr algn="ctr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commits   ·   </a:t>
            </a:r>
            <a:pPr algn="ctr" indent="0" marL="0"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56 </a:t>
            </a:r>
            <a:pPr algn="ctr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   ·   </a:t>
            </a:r>
            <a:pPr algn="ctr" indent="0" marL="0">
              <a:buNone/>
            </a:pPr>
            <a:r>
              <a:rPr lang="en-US" sz="3200" b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6 </a:t>
            </a:r>
            <a:pPr algn="ctr" indent="0" marL="0">
              <a:buNone/>
            </a:pPr>
            <a:r>
              <a:rPr lang="en-US" sz="130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 PR 시리즈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977640" cy="2286000"/>
          </a:xfrm>
          <a:prstGeom prst="rect">
            <a:avLst/>
          </a:prstGeom>
          <a:solidFill>
            <a:srgbClr val="1F5C4A">
              <a:alpha val="8000"/>
            </a:srgbClr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0116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규율 — 헌법 시스템으로 AI 통제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331720"/>
            <a:ext cx="3520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종전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</a:t>
            </a:r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지침서 → AI 가 자주 말을 안 듣고 스코프 폭주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계층 위계 (한국 법체계 정합)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헌법 / 법률 / 시행령 / 시행규칙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결정 → 헌법 조항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명시 의무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신규 기능 자가 추가 금지 (스코프 보호)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874520"/>
            <a:ext cx="3977640" cy="2286000"/>
          </a:xfrm>
          <a:prstGeom prst="rect">
            <a:avLst/>
          </a:prstGeom>
          <a:solidFill>
            <a:srgbClr val="1F5C4A">
              <a:alpha val="8000"/>
            </a:srgbClr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20116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 — silent fallback 회귀 (PR #71)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3520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증상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채점 후 AI 총평·키워드·diff 모두 빈 화면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원인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JSON 파싱 실패 시 </a:t>
            </a:r>
            <a:pPr indent="0" marL="0">
              <a:spcAft>
                <a:spcPts val="400"/>
              </a:spcAft>
              <a:buNone/>
            </a:pPr>
            <a:r>
              <a:rPr lang="en-US" sz="1100" b="1" i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조용히 빈 배열 fallback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→ UI 가 “성공인데 빈 답안” 으로 오안내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spc="400" kern="0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A20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 throw + 진단 로그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+ 출력 토큰 2048 → 4096 격상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배움  </a:t>
            </a:r>
            <a:pPr algn="ctr" indent="0" marL="0">
              <a:buNone/>
            </a:pPr>
            <a:r>
              <a:rPr lang="en-US" sz="1400" i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AI 협업은 </a:t>
            </a:r>
            <a:pPr algn="ctr" indent="0" marL="0">
              <a:buNone/>
            </a:pPr>
            <a:r>
              <a:rPr lang="en-US" sz="1400" b="1" i="1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규율과 정직</a:t>
            </a:r>
            <a:pPr algn="ctr" indent="0" marL="0">
              <a:buNone/>
            </a:pPr>
            <a:r>
              <a:rPr lang="en-US" sz="1400" i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— 헌법으로 통제, fallback 은 명시 에러로 surface.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1A202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Fitly</a:t>
            </a:r>
            <a:endParaRPr lang="en-US" sz="8400" dirty="0"/>
          </a:p>
        </p:txBody>
      </p:sp>
      <p:sp>
        <p:nvSpPr>
          <p:cNvPr id="3" name="Text 1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F5C4A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합격은 시간이 아니라 적합도다.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8229600" cy="0"/>
          </a:xfrm>
          <a:prstGeom prst="line">
            <a:avLst/>
          </a:prstGeom>
          <a:noFill/>
          <a:ln w="6350">
            <a:solidFill>
              <a:srgbClr val="1A2027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b="1" spc="400" kern="0" dirty="0">
                <a:solidFill>
                  <a:srgbClr val="1F5C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7월</a:t>
            </a:r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34B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클로즈드 베타 모집 예정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6B625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[랜딩 URL]   ·   [팀 연락처]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6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감사합니다.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Fitly — 합격은 시간이 아니라 적합도다</dc:title>
  <dc:subject>한국 초등교사 임용 1차 학습 플래너 PWA</dc:subject>
  <dc:creator>Fitly Team</dc:creator>
  <cp:lastModifiedBy>Fitly Team</cp:lastModifiedBy>
  <cp:revision>1</cp:revision>
  <dcterms:created xsi:type="dcterms:W3CDTF">2026-05-15T16:14:54Z</dcterms:created>
  <dcterms:modified xsi:type="dcterms:W3CDTF">2026-05-15T16:14:54Z</dcterms:modified>
</cp:coreProperties>
</file>